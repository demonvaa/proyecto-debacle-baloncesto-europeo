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7" r:id="rId5"/>
    <p:sldId id="276" r:id="rId6"/>
    <p:sldId id="277" r:id="rId7"/>
    <p:sldId id="265" r:id="rId8"/>
    <p:sldId id="266" r:id="rId9"/>
    <p:sldId id="270" r:id="rId10"/>
    <p:sldId id="268" r:id="rId11"/>
    <p:sldId id="269" r:id="rId12"/>
    <p:sldId id="271" r:id="rId13"/>
    <p:sldId id="278" r:id="rId1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notesViewPr>
    <p:cSldViewPr>
      <p:cViewPr varScale="1">
        <p:scale>
          <a:sx n="46" d="100"/>
          <a:sy n="46" d="100"/>
        </p:scale>
        <p:origin x="882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590047-4D0B-4D1F-BE30-3966494540C0}" type="datetime1">
              <a:rPr lang="es-ES" smtClean="0"/>
              <a:t>08/05/2026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CB32D8-F2D2-4D01-80A9-88F3B128AE7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08472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644419-2C99-4179-8267-85A44B07D997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5C1D8F7-2BDD-4C56-98AF-2E212EF349F3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076194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0701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FD74-8021-3A9F-D661-81DA22FC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575C94-A7C3-0A6D-1944-0DEA9E9BF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8CCD6A-947D-C526-B50C-2D42DAE26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210C9C-F418-7016-CF0F-C5924688A1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4792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B55D7-2C49-F576-FE73-C6C5CDE6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0FEEB9-404F-084A-49B0-D50685739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10B6CF-28A1-793F-5B4D-0F2A6C62E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66F07E-28D9-5493-41A4-E7FF010CF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6943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05992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895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2639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81277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2349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321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9528-CFAD-9644-F9C6-0D99684E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26DB07-2D81-0A1C-FD2E-F608BB53F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91492F-DA72-A7E6-99BC-D84470D19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67A785-A5C3-2EBF-F20F-0BCC04419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855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638800" y="304801"/>
            <a:ext cx="5486400" cy="2514599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5400" spc="-90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638800" y="2895600"/>
            <a:ext cx="5486400" cy="914400"/>
          </a:xfrm>
        </p:spPr>
        <p:txBody>
          <a:bodyPr rtlCol="0"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bg2">
                    <a:lumMod val="25000"/>
                    <a:lumOff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2053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907D26-14CE-47B4-8FC7-712629BF034E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7300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0450" y="1676401"/>
            <a:ext cx="10058400" cy="1752600"/>
          </a:xfrm>
        </p:spPr>
        <p:txBody>
          <a:bodyPr rtlCol="0" anchor="b">
            <a:normAutofit/>
          </a:bodyPr>
          <a:lstStyle>
            <a:lvl1pPr>
              <a:defRPr sz="48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0450" y="3581400"/>
            <a:ext cx="10058400" cy="1143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040838-48B9-47D7-8693-5C5BE891D8FD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566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6800" y="1676401"/>
            <a:ext cx="4846320" cy="4343400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78880" y="1676401"/>
            <a:ext cx="4846320" cy="4343400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D6D12F-E617-461A-8558-DBAEF7C79B5E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9025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6800" y="1681163"/>
            <a:ext cx="4846320" cy="823912"/>
          </a:xfrm>
        </p:spPr>
        <p:txBody>
          <a:bodyPr rtlCol="0" anchor="ctr"/>
          <a:lstStyle>
            <a:lvl1pPr marL="0" indent="0">
              <a:buNone/>
              <a:defRPr sz="2400" b="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66800" y="2505075"/>
            <a:ext cx="4846320" cy="3514725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278880" y="1681163"/>
            <a:ext cx="4846320" cy="823912"/>
          </a:xfrm>
        </p:spPr>
        <p:txBody>
          <a:bodyPr rtlCol="0" anchor="ctr"/>
          <a:lstStyle>
            <a:lvl1pPr marL="0" indent="0">
              <a:buNone/>
              <a:defRPr sz="2400" b="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278880" y="2505075"/>
            <a:ext cx="4846320" cy="3514725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13F359-E6D8-44AE-B68F-D23805A43F07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9242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0876FF-3C57-4FE9-ABC5-25EACC3E09D8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1093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7BF1CC-BB62-493D-A481-BDDEA1B101A3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5120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24800" y="838200"/>
            <a:ext cx="3657600" cy="2133600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838200"/>
            <a:ext cx="6172200" cy="5181601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924802" y="3124200"/>
            <a:ext cx="3657600" cy="28956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7959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24800" y="838200"/>
            <a:ext cx="3657600" cy="2133600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>
            <a:off x="0" y="0"/>
            <a:ext cx="7239000" cy="6858000"/>
          </a:xfrm>
          <a:solidFill>
            <a:schemeClr val="bg1"/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924801" y="3124200"/>
            <a:ext cx="3657600" cy="28956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Rectángulo 7"/>
          <p:cNvSpPr/>
          <p:nvPr/>
        </p:nvSpPr>
        <p:spPr>
          <a:xfrm>
            <a:off x="7239000" y="0"/>
            <a:ext cx="2286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4411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5E1D0B-4E78-487E-906E-17D1104142E9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745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296400" y="365125"/>
            <a:ext cx="1828800" cy="5654675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066800" y="365125"/>
            <a:ext cx="8001000" cy="5654675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BAE25F-30D8-40FB-B765-EBDE88409134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4737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100584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100584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070918" y="6392562"/>
            <a:ext cx="7082481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534400" y="6392562"/>
            <a:ext cx="1295400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2554607-61BF-409B-BEC6-53555405DF68}" type="datetime1">
              <a:rPr lang="es-ES" noProof="0" smtClean="0"/>
              <a:t>08/05/2026</a:t>
            </a:fld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058400" y="6392562"/>
            <a:ext cx="1066800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9043838-BFF5-400C-B067-3DF4A5F395D6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69209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Anexo:Finalistas_de_la_Eurolig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dirty="0"/>
              <a:t>EVOLUCION DEL BALONCESTO EUROPEO 1958-2024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" y="548680"/>
            <a:ext cx="5486400" cy="1008112"/>
          </a:xfrm>
        </p:spPr>
        <p:txBody>
          <a:bodyPr rtlCol="0"/>
          <a:lstStyle/>
          <a:p>
            <a:pPr rtl="0"/>
            <a:r>
              <a:rPr lang="es-ES" dirty="0"/>
              <a:t>Autor: Ernesto Vaamonde </a:t>
            </a:r>
            <a:r>
              <a:rPr lang="es-ES" dirty="0" err="1"/>
              <a:t>Oubiña</a:t>
            </a:r>
            <a:endParaRPr lang="es-ES" dirty="0"/>
          </a:p>
          <a:p>
            <a:pPr rtl="0"/>
            <a:r>
              <a:rPr lang="es-ES" dirty="0"/>
              <a:t>08/05/2026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EF6D34D-128C-D0B6-4973-0CE8F7FC4D73}"/>
              </a:ext>
            </a:extLst>
          </p:cNvPr>
          <p:cNvSpPr txBox="1"/>
          <p:nvPr/>
        </p:nvSpPr>
        <p:spPr>
          <a:xfrm>
            <a:off x="5640491" y="2420888"/>
            <a:ext cx="6336703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s-ES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ts val="1425"/>
              </a:lnSpc>
              <a:buNone/>
            </a:pPr>
            <a:endParaRPr lang="es-ES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ts val="1425"/>
              </a:lnSpc>
              <a:buNone/>
            </a:pPr>
            <a:endParaRPr lang="es-ES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ts val="1425"/>
              </a:lnSpc>
              <a:buNone/>
            </a:pPr>
            <a:r>
              <a:rPr lang="es-ES" dirty="0"/>
              <a:t>https://es.wikipedia.org/wiki/Anexo:Finalistas_de_la_Euroliga</a:t>
            </a:r>
          </a:p>
          <a:p>
            <a:pPr>
              <a:lnSpc>
                <a:spcPts val="1425"/>
              </a:lnSpc>
              <a:buNone/>
            </a:pPr>
            <a:endParaRPr lang="es-ES" dirty="0"/>
          </a:p>
          <a:p>
            <a:pPr>
              <a:lnSpc>
                <a:spcPts val="1425"/>
              </a:lnSpc>
              <a:buNone/>
            </a:pPr>
            <a:endParaRPr lang="es-ES" dirty="0">
              <a:solidFill>
                <a:srgbClr val="A5D6FF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S" dirty="0"/>
              <a:t>https://es.wikipedia.org/wiki/Anexo:C%C3%B3digos_del_COI</a:t>
            </a:r>
          </a:p>
          <a:p>
            <a:pPr>
              <a:lnSpc>
                <a:spcPts val="1425"/>
              </a:lnSpc>
              <a:buNone/>
            </a:pPr>
            <a:endParaRPr lang="es-ES" b="0" dirty="0">
              <a:solidFill>
                <a:srgbClr val="A5D6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s-ES" b="0" dirty="0">
              <a:solidFill>
                <a:srgbClr val="A5D6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S" dirty="0"/>
              <a:t>"statelist2024.csv“  de Kaggle</a:t>
            </a:r>
          </a:p>
          <a:p>
            <a:pPr>
              <a:lnSpc>
                <a:spcPts val="1425"/>
              </a:lnSpc>
              <a:buNone/>
            </a:pPr>
            <a:endParaRPr lang="es-E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s-E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09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39395-CCEB-30DB-4847-6B4CAC64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4A8DC-E400-3625-CAAB-F26FA043F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8168" y="872716"/>
            <a:ext cx="4248472" cy="5112568"/>
          </a:xfrm>
        </p:spPr>
        <p:txBody>
          <a:bodyPr rtlCol="0">
            <a:normAutofit fontScale="90000"/>
          </a:bodyPr>
          <a:lstStyle/>
          <a:p>
            <a:r>
              <a:rPr lang="es-ES" dirty="0"/>
              <a:t>"¿Qué es la </a:t>
            </a:r>
            <a:r>
              <a:rPr lang="es-ES" dirty="0" err="1"/>
              <a:t>Euroliga</a:t>
            </a:r>
            <a:r>
              <a:rPr lang="es-ES" dirty="0"/>
              <a:t>?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r>
              <a:rPr lang="es-ES" dirty="0"/>
              <a:t> Máxima competición de clubes en Europa</a:t>
            </a:r>
            <a:br>
              <a:rPr lang="es-ES" dirty="0"/>
            </a:br>
            <a:br>
              <a:rPr lang="es-ES" dirty="0"/>
            </a:br>
            <a:r>
              <a:rPr lang="es-ES" dirty="0"/>
              <a:t> Fundada en 1958 como Copa de Europa   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 Reformada en 2001 como </a:t>
            </a:r>
            <a:r>
              <a:rPr lang="es-ES" dirty="0" err="1"/>
              <a:t>Euroleague</a:t>
            </a:r>
            <a:r>
              <a:rPr lang="es-ES" dirty="0"/>
              <a:t> </a:t>
            </a:r>
            <a:r>
              <a:rPr lang="es-ES" dirty="0" err="1"/>
              <a:t>Basketball</a:t>
            </a:r>
            <a:endParaRPr lang="es-ES" dirty="0"/>
          </a:p>
        </p:txBody>
      </p:sp>
      <p:sp>
        <p:nvSpPr>
          <p:cNvPr id="6" name="Rounded Rectangle 5" hidden="1">
            <a:extLst>
              <a:ext uri="{FF2B5EF4-FFF2-40B4-BE49-F238E27FC236}">
                <a16:creationId xmlns:a16="http://schemas.microsoft.com/office/drawing/2014/main" id="{5500A3D6-B28F-38A6-6D39-231A1ED0789A}"/>
              </a:ext>
            </a:extLst>
          </p:cNvPr>
          <p:cNvSpPr/>
          <p:nvPr/>
        </p:nvSpPr>
        <p:spPr>
          <a:xfrm>
            <a:off x="12344400" y="152400"/>
            <a:ext cx="1295400" cy="65532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es" sz="1200" b="1" i="1">
                <a:latin typeface="Arial" pitchFamily="34" charset="0"/>
                <a:cs typeface="Arial" pitchFamily="34" charset="0"/>
              </a:rPr>
              <a:t>NOTE:</a:t>
            </a:r>
          </a:p>
          <a:p>
            <a:pPr rtl="0"/>
            <a:r>
              <a:rPr lang="es" sz="1200" i="1">
                <a:latin typeface="Arial" pitchFamily="34" charset="0"/>
                <a:cs typeface="Arial" pitchFamily="34" charset="0"/>
              </a:rPr>
              <a:t>To change images on this slide, select a picture and delete it. Then click the Insert Picture icon</a:t>
            </a:r>
          </a:p>
          <a:p>
            <a:pPr rtl="0"/>
            <a:r>
              <a:rPr lang="es" sz="1200" i="1">
                <a:latin typeface="Arial" pitchFamily="34" charset="0"/>
                <a:cs typeface="Arial" pitchFamily="34" charset="0"/>
              </a:rPr>
              <a:t>in the placeholder to insert your own image.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32A93772-142F-E574-53E8-96D0B14FA4A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Imagen 6" descr="Tutorial para acudir al Wizink Center con bebés – Blog de Baloncesto del  Real Madrid">
            <a:extLst>
              <a:ext uri="{FF2B5EF4-FFF2-40B4-BE49-F238E27FC236}">
                <a16:creationId xmlns:a16="http://schemas.microsoft.com/office/drawing/2014/main" id="{91532117-7517-1ECB-E411-4B03BCE3A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3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1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0B6A-A4BF-8C60-123F-EC7E72D3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D3EEA-11CA-7C04-E871-17BA24FAF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9202" y="332656"/>
            <a:ext cx="4248472" cy="9217024"/>
          </a:xfrm>
        </p:spPr>
        <p:txBody>
          <a:bodyPr rtlCol="0">
            <a:normAutofit fontScale="90000"/>
          </a:bodyPr>
          <a:lstStyle/>
          <a:p>
            <a:r>
              <a:rPr lang="es-ES" sz="2400" dirty="0"/>
              <a:t>    JUGADORES LEGENDARIOS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- Drazen Petrovic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- Arvydas Sabonis 	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- Toni Kukoc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- Nikos Gallis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- </a:t>
            </a:r>
            <a:r>
              <a:rPr lang="es-ES" sz="2400" dirty="0" err="1"/>
              <a:t>J.Antonio</a:t>
            </a:r>
            <a:r>
              <a:rPr lang="es-ES" sz="2400" dirty="0"/>
              <a:t> Corbalan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- EPI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  </a:t>
            </a:r>
            <a:br>
              <a:rPr lang="es-ES" sz="2400" dirty="0"/>
            </a:br>
            <a:r>
              <a:rPr lang="es-ES" sz="2400" dirty="0"/>
              <a:t>   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 </a:t>
            </a:r>
            <a:br>
              <a:rPr lang="es-ES" sz="2400" dirty="0"/>
            </a:br>
            <a:endParaRPr lang="es-ES" sz="2400" dirty="0"/>
          </a:p>
        </p:txBody>
      </p:sp>
      <p:sp>
        <p:nvSpPr>
          <p:cNvPr id="6" name="Rounded Rectangle 5" hidden="1">
            <a:extLst>
              <a:ext uri="{FF2B5EF4-FFF2-40B4-BE49-F238E27FC236}">
                <a16:creationId xmlns:a16="http://schemas.microsoft.com/office/drawing/2014/main" id="{76E8B53A-A4D2-04B8-FF2C-BAEE9CB1C6BE}"/>
              </a:ext>
            </a:extLst>
          </p:cNvPr>
          <p:cNvSpPr/>
          <p:nvPr/>
        </p:nvSpPr>
        <p:spPr>
          <a:xfrm>
            <a:off x="12344400" y="152400"/>
            <a:ext cx="1295400" cy="65532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es" sz="1200" b="1" i="1">
                <a:latin typeface="Arial" pitchFamily="34" charset="0"/>
                <a:cs typeface="Arial" pitchFamily="34" charset="0"/>
              </a:rPr>
              <a:t>NOTE:</a:t>
            </a:r>
          </a:p>
          <a:p>
            <a:pPr rtl="0"/>
            <a:r>
              <a:rPr lang="es" sz="1200" i="1">
                <a:latin typeface="Arial" pitchFamily="34" charset="0"/>
                <a:cs typeface="Arial" pitchFamily="34" charset="0"/>
              </a:rPr>
              <a:t>To change images on this slide, select a picture and delete it. Then click the Insert Picture icon</a:t>
            </a:r>
          </a:p>
          <a:p>
            <a:pPr rtl="0"/>
            <a:r>
              <a:rPr lang="es" sz="1200" i="1">
                <a:latin typeface="Arial" pitchFamily="34" charset="0"/>
                <a:cs typeface="Arial" pitchFamily="34" charset="0"/>
              </a:rPr>
              <a:t>in the placeholder to insert your own image.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C4EA55E-6BB1-0786-955D-DD6667644277}"/>
              </a:ext>
            </a:extLst>
          </p:cNvPr>
          <p:cNvSpPr txBox="1"/>
          <p:nvPr/>
        </p:nvSpPr>
        <p:spPr>
          <a:xfrm>
            <a:off x="2992794" y="3179020"/>
            <a:ext cx="613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CD4E707-26A4-2D81-46F1-8A17229DF5FB}"/>
              </a:ext>
            </a:extLst>
          </p:cNvPr>
          <p:cNvSpPr txBox="1"/>
          <p:nvPr/>
        </p:nvSpPr>
        <p:spPr>
          <a:xfrm>
            <a:off x="2992794" y="3179020"/>
            <a:ext cx="613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F9789A6-833B-081C-18B4-E33EE7EE2DA6}"/>
              </a:ext>
            </a:extLst>
          </p:cNvPr>
          <p:cNvSpPr txBox="1"/>
          <p:nvPr/>
        </p:nvSpPr>
        <p:spPr>
          <a:xfrm>
            <a:off x="3048778" y="344027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pic>
        <p:nvPicPr>
          <p:cNvPr id="26" name="Imagen 25" descr="El día que Drazen salvó a la Cibona">
            <a:extLst>
              <a:ext uri="{FF2B5EF4-FFF2-40B4-BE49-F238E27FC236}">
                <a16:creationId xmlns:a16="http://schemas.microsoft.com/office/drawing/2014/main" id="{1D3D90D9-2FA3-6FD8-CC8F-4E7ED7C45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4603"/>
            <a:ext cx="2512041" cy="3679627"/>
          </a:xfrm>
          <a:prstGeom prst="rect">
            <a:avLst/>
          </a:prstGeom>
        </p:spPr>
      </p:pic>
      <p:pic>
        <p:nvPicPr>
          <p:cNvPr id="28" name="Imagen 27" descr="Retrospectiva de un genio: Toni Kukoč">
            <a:extLst>
              <a:ext uri="{FF2B5EF4-FFF2-40B4-BE49-F238E27FC236}">
                <a16:creationId xmlns:a16="http://schemas.microsoft.com/office/drawing/2014/main" id="{FFEEECF9-5C74-2CFC-7B54-93CB29CA6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305" y="3548352"/>
            <a:ext cx="2604584" cy="3293217"/>
          </a:xfrm>
          <a:prstGeom prst="rect">
            <a:avLst/>
          </a:prstGeom>
        </p:spPr>
      </p:pic>
      <p:pic>
        <p:nvPicPr>
          <p:cNvPr id="31" name="Imagen 30" descr="Nikos Galis - Wikipedia, la enciclopedia libre">
            <a:extLst>
              <a:ext uri="{FF2B5EF4-FFF2-40B4-BE49-F238E27FC236}">
                <a16:creationId xmlns:a16="http://schemas.microsoft.com/office/drawing/2014/main" id="{6D274B89-C82B-80C7-31A7-68FADD7CC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6232" y="-9735"/>
            <a:ext cx="2460567" cy="3558088"/>
          </a:xfrm>
          <a:prstGeom prst="rect">
            <a:avLst/>
          </a:prstGeom>
        </p:spPr>
      </p:pic>
      <p:pic>
        <p:nvPicPr>
          <p:cNvPr id="32" name="Imagen 31" descr="Juan Antonio Corbalán Alfocea - Historia y palmarés | Web oficial Real  Madrid C.F.">
            <a:extLst>
              <a:ext uri="{FF2B5EF4-FFF2-40B4-BE49-F238E27FC236}">
                <a16:creationId xmlns:a16="http://schemas.microsoft.com/office/drawing/2014/main" id="{77660285-1CBC-21E7-C03B-44855E24ED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872" y="16430"/>
            <a:ext cx="2376263" cy="3558088"/>
          </a:xfrm>
          <a:prstGeom prst="rect">
            <a:avLst/>
          </a:prstGeom>
        </p:spPr>
      </p:pic>
      <p:pic>
        <p:nvPicPr>
          <p:cNvPr id="33" name="Imagen 32" descr="Qué fue de Epi, el rey del Palau Blaugrana que se crió en el cierzo?">
            <a:extLst>
              <a:ext uri="{FF2B5EF4-FFF2-40B4-BE49-F238E27FC236}">
                <a16:creationId xmlns:a16="http://schemas.microsoft.com/office/drawing/2014/main" id="{A997D281-27C8-F368-F1CA-38F935E011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65" y="3574519"/>
            <a:ext cx="2473076" cy="3283482"/>
          </a:xfrm>
          <a:prstGeom prst="rect">
            <a:avLst/>
          </a:prstGeom>
        </p:spPr>
      </p:pic>
      <p:pic>
        <p:nvPicPr>
          <p:cNvPr id="34" name="Imagen 33" descr="70 fotos e imágenes de alta resolución de Zalgiris Sabonis - Getty Images">
            <a:extLst>
              <a:ext uri="{FF2B5EF4-FFF2-40B4-BE49-F238E27FC236}">
                <a16:creationId xmlns:a16="http://schemas.microsoft.com/office/drawing/2014/main" id="{CE72F174-E879-A14E-F2A5-272A8E2CDF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5345" y="3548352"/>
            <a:ext cx="2324789" cy="329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8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08168" y="260648"/>
            <a:ext cx="4248472" cy="5976664"/>
          </a:xfrm>
        </p:spPr>
        <p:txBody>
          <a:bodyPr rtlCol="0">
            <a:normAutofit fontScale="90000"/>
          </a:bodyPr>
          <a:lstStyle/>
          <a:p>
            <a:r>
              <a:rPr lang="es-ES" sz="2400" dirty="0"/>
              <a:t>    "EQUIPOS LEGENDARIOS: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  REAL MADRID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    CSKA Moscú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  </a:t>
            </a:r>
            <a:r>
              <a:rPr lang="es-ES" sz="2400" dirty="0" err="1"/>
              <a:t>Jugoplastika</a:t>
            </a:r>
            <a:r>
              <a:rPr lang="es-ES" sz="2400" dirty="0"/>
              <a:t> Split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  Cibona Zagreb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   </a:t>
            </a:r>
            <a:r>
              <a:rPr lang="es-ES" sz="2400" dirty="0" err="1"/>
              <a:t>Panathinaikos</a:t>
            </a:r>
            <a:r>
              <a:rPr lang="es-ES" sz="2400" dirty="0"/>
              <a:t> </a:t>
            </a:r>
            <a:br>
              <a:rPr lang="es-ES" sz="2400" dirty="0"/>
            </a:br>
            <a:r>
              <a:rPr lang="es-ES" sz="2400" dirty="0"/>
              <a:t>    </a:t>
            </a:r>
            <a:br>
              <a:rPr lang="es-ES" sz="2400" dirty="0"/>
            </a:br>
            <a:r>
              <a:rPr lang="es-ES" sz="2400" dirty="0"/>
              <a:t>   </a:t>
            </a:r>
            <a:r>
              <a:rPr lang="es-ES" sz="2400" dirty="0" err="1"/>
              <a:t>Olympiacos</a:t>
            </a:r>
            <a:br>
              <a:rPr lang="es-ES" sz="2400" dirty="0"/>
            </a:br>
            <a:r>
              <a:rPr lang="es-ES" sz="2400" dirty="0"/>
              <a:t>   </a:t>
            </a:r>
            <a:br>
              <a:rPr lang="es-ES" sz="2400" dirty="0"/>
            </a:br>
            <a:r>
              <a:rPr lang="es-ES" sz="2400" dirty="0"/>
              <a:t>   Barcelona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 </a:t>
            </a:r>
            <a:r>
              <a:rPr lang="es-ES" sz="2400" dirty="0" err="1"/>
              <a:t>Maccabi</a:t>
            </a:r>
            <a:r>
              <a:rPr lang="es-ES" sz="2400" dirty="0"/>
              <a:t> Tel Aviv</a:t>
            </a:r>
            <a:br>
              <a:rPr lang="es-ES" sz="2400" dirty="0"/>
            </a:br>
            <a:endParaRPr lang="es-ES" sz="2400" dirty="0"/>
          </a:p>
        </p:txBody>
      </p:sp>
      <p:sp>
        <p:nvSpPr>
          <p:cNvPr id="6" name="Rounded Rectangle 5" hidden="1"/>
          <p:cNvSpPr/>
          <p:nvPr/>
        </p:nvSpPr>
        <p:spPr>
          <a:xfrm>
            <a:off x="12344400" y="152400"/>
            <a:ext cx="1295400" cy="65532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es" sz="1200" b="1" i="1">
                <a:latin typeface="Arial" pitchFamily="34" charset="0"/>
                <a:cs typeface="Arial" pitchFamily="34" charset="0"/>
              </a:rPr>
              <a:t>NOTE:</a:t>
            </a:r>
          </a:p>
          <a:p>
            <a:pPr rtl="0"/>
            <a:r>
              <a:rPr lang="es" sz="1200" i="1">
                <a:latin typeface="Arial" pitchFamily="34" charset="0"/>
                <a:cs typeface="Arial" pitchFamily="34" charset="0"/>
              </a:rPr>
              <a:t>To change images on this slide, select a picture and delete it. Then click the Insert Picture icon</a:t>
            </a:r>
          </a:p>
          <a:p>
            <a:pPr rtl="0"/>
            <a:r>
              <a:rPr lang="es" sz="1200" i="1">
                <a:latin typeface="Arial" pitchFamily="34" charset="0"/>
                <a:cs typeface="Arial" pitchFamily="34" charset="0"/>
              </a:rPr>
              <a:t>in the placeholder to insert your own image.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A895CA64-196B-0D32-9641-F2C1A070EDC1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1" name="Imagen 10" descr="Copa de Europa de 1995 del Real Madrid. ¿Quién había en aquel equipo?">
            <a:extLst>
              <a:ext uri="{FF2B5EF4-FFF2-40B4-BE49-F238E27FC236}">
                <a16:creationId xmlns:a16="http://schemas.microsoft.com/office/drawing/2014/main" id="{03A00574-E1B1-3795-5DB8-33D1371A5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754" y="116632"/>
            <a:ext cx="7239000" cy="674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8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3712" y="304800"/>
            <a:ext cx="7621488" cy="603920"/>
          </a:xfrm>
        </p:spPr>
        <p:txBody>
          <a:bodyPr rtlCol="0"/>
          <a:lstStyle/>
          <a:p>
            <a:r>
              <a:rPr lang="pt-BR" dirty="0"/>
              <a:t>LAS 3 GRANDES ERAS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83432" y="918592"/>
            <a:ext cx="10058400" cy="5020816"/>
          </a:xfrm>
        </p:spPr>
        <p:txBody>
          <a:bodyPr rtlCol="0">
            <a:normAutofit/>
          </a:bodyPr>
          <a:lstStyle/>
          <a:p>
            <a:r>
              <a:rPr lang="pt-BR" dirty="0"/>
              <a:t>    1. Copa de Europa (1958–1991)</a:t>
            </a:r>
          </a:p>
          <a:p>
            <a:r>
              <a:rPr lang="pt-BR" dirty="0"/>
              <a:t>    ANTES DE LA DISOLUCION DE LA “UNION SOVIETICA” Y “YUGOSLAVIA”</a:t>
            </a:r>
          </a:p>
          <a:p>
            <a:r>
              <a:rPr lang="pt-BR" dirty="0"/>
              <a:t>    BALONCESTO PURO, NO COMO LA NBA QUE ERA TODO FISICO</a:t>
            </a:r>
          </a:p>
          <a:p>
            <a:endParaRPr lang="pt-BR" dirty="0"/>
          </a:p>
          <a:p>
            <a:r>
              <a:rPr lang="pt-BR" dirty="0"/>
              <a:t>    "2. </a:t>
            </a:r>
            <a:r>
              <a:rPr lang="pt-BR" dirty="0" err="1"/>
              <a:t>Transición</a:t>
            </a:r>
            <a:r>
              <a:rPr lang="pt-BR" dirty="0"/>
              <a:t> (1992–2001)</a:t>
            </a:r>
          </a:p>
          <a:p>
            <a:r>
              <a:rPr lang="pt-BR" dirty="0"/>
              <a:t>   VIAJE SIN LOS GRANDES COLOSOS EUROPEOS URSS y YUGOSLAVIA</a:t>
            </a:r>
          </a:p>
          <a:p>
            <a:endParaRPr lang="pt-BR" dirty="0"/>
          </a:p>
          <a:p>
            <a:r>
              <a:rPr lang="pt-BR" dirty="0"/>
              <a:t>    "3. Euroliga Moderna (2002–2024)</a:t>
            </a:r>
          </a:p>
          <a:p>
            <a:r>
              <a:rPr lang="pt-BR" dirty="0"/>
              <a:t>   EL DINERO MANDA, SE ACABARON LOS MERITOS DEPORTIVOS</a:t>
            </a:r>
          </a:p>
          <a:p>
            <a:endParaRPr lang="pt-BR" dirty="0"/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508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Agregar un título de diapositiva (3)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91A1F8-9EDA-44DC-B3E4-0D2FDD0E43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Agregar un título de diapositiva (1)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192F3E-7E71-0D49-5823-617299D823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441"/>
            <a:ext cx="12192000" cy="665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1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       DESINTEGRACION DE YUGOSLAVIA Y LA URSS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1424" y="1681163"/>
            <a:ext cx="4846320" cy="823912"/>
          </a:xfrm>
        </p:spPr>
        <p:txBody>
          <a:bodyPr rtlCol="0">
            <a:noAutofit/>
          </a:bodyPr>
          <a:lstStyle/>
          <a:p>
            <a:r>
              <a:rPr lang="es-ES" dirty="0"/>
              <a:t>Yugoslavia se disgrega poco a poco                   el 25 de junio de 1991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/>
        <p:txBody>
          <a:bodyPr rtlCol="0">
            <a:normAutofit fontScale="92500" lnSpcReduction="20000"/>
          </a:bodyPr>
          <a:lstStyle/>
          <a:p>
            <a:r>
              <a:rPr lang="es-ES" dirty="0"/>
              <a:t>Union </a:t>
            </a:r>
            <a:r>
              <a:rPr lang="es-ES" dirty="0" err="1"/>
              <a:t>Sovietica</a:t>
            </a:r>
            <a:r>
              <a:rPr lang="es-ES" dirty="0"/>
              <a:t> desaparece el </a:t>
            </a:r>
          </a:p>
          <a:p>
            <a:r>
              <a:rPr lang="es-ES" dirty="0"/>
              <a:t>   26 de diciembre de 1991</a:t>
            </a:r>
          </a:p>
        </p:txBody>
      </p:sp>
      <p:pic>
        <p:nvPicPr>
          <p:cNvPr id="13" name="Marcador de contenido 12" descr="La descomposición de la Unión Soviética - Mapas de El Orden ...">
            <a:extLst>
              <a:ext uri="{FF2B5EF4-FFF2-40B4-BE49-F238E27FC236}">
                <a16:creationId xmlns:a16="http://schemas.microsoft.com/office/drawing/2014/main" id="{A12296CA-C405-78E7-DEA4-DC87603029B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69293" y="2706390"/>
            <a:ext cx="4669160" cy="3874765"/>
          </a:xfrm>
          <a:prstGeom prst="rect">
            <a:avLst/>
          </a:prstGeom>
        </p:spPr>
      </p:pic>
      <p:pic>
        <p:nvPicPr>
          <p:cNvPr id="12" name="Marcador de contenido 11" descr="Cronología de la desintegración de Yugoslavia : r/MapPorn">
            <a:extLst>
              <a:ext uri="{FF2B5EF4-FFF2-40B4-BE49-F238E27FC236}">
                <a16:creationId xmlns:a16="http://schemas.microsoft.com/office/drawing/2014/main" id="{72A0998E-4648-948E-8710-286FCAED2E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335360" y="2678435"/>
            <a:ext cx="5760640" cy="387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9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658F2E9-3FF1-E85D-D259-D2F8ABD4AF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408"/>
            <a:ext cx="12192000" cy="72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924B-42F3-2970-28E1-BCEE97E2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8347D-16E0-7581-80B4-A53D623A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585" y="833048"/>
            <a:ext cx="4248472" cy="6950013"/>
          </a:xfrm>
        </p:spPr>
        <p:txBody>
          <a:bodyPr rtlCol="0">
            <a:normAutofit fontScale="90000"/>
          </a:bodyPr>
          <a:lstStyle/>
          <a:p>
            <a:r>
              <a:rPr lang="es-ES" sz="2400" dirty="0"/>
              <a:t>CAUSAS DEFUNCION: </a:t>
            </a:r>
            <a:br>
              <a:rPr lang="es-ES" sz="2400" dirty="0"/>
            </a:br>
            <a:br>
              <a:rPr lang="es-ES" sz="2000" dirty="0"/>
            </a:br>
            <a:r>
              <a:rPr lang="es-ES" sz="2000" dirty="0"/>
              <a:t> Estrellas Europeas emigran a  NBA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 err="1"/>
              <a:t>Television</a:t>
            </a:r>
            <a:r>
              <a:rPr lang="es-ES" sz="2000" dirty="0"/>
              <a:t> de Pago</a:t>
            </a:r>
            <a:br>
              <a:rPr lang="es-ES" sz="2000" dirty="0"/>
            </a:b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Negocios y Presidentes que buscan rendimiento económico.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y sobre todo que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 YA NO SE JUEGA  POR MERITOS DEPORTIVOS,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HAY LISTA CERRADA A 14 </a:t>
            </a:r>
            <a:br>
              <a:rPr lang="es-ES" sz="2000" dirty="0"/>
            </a:br>
            <a:br>
              <a:rPr lang="es-ES" sz="2000" dirty="0"/>
            </a:br>
            <a:r>
              <a:rPr lang="es-ES" sz="2000" dirty="0"/>
              <a:t> ES NEGOCIO, NO ES DEPORTE 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  </a:t>
            </a:r>
            <a:br>
              <a:rPr lang="es-ES" sz="2400" dirty="0"/>
            </a:br>
            <a:r>
              <a:rPr lang="es-ES" sz="2400" dirty="0"/>
              <a:t>   </a:t>
            </a: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 </a:t>
            </a:r>
            <a:br>
              <a:rPr lang="es-ES" sz="2400" dirty="0"/>
            </a:br>
            <a:endParaRPr lang="es-ES" sz="2400" dirty="0"/>
          </a:p>
        </p:txBody>
      </p:sp>
      <p:sp>
        <p:nvSpPr>
          <p:cNvPr id="6" name="Rounded Rectangle 5" hidden="1">
            <a:extLst>
              <a:ext uri="{FF2B5EF4-FFF2-40B4-BE49-F238E27FC236}">
                <a16:creationId xmlns:a16="http://schemas.microsoft.com/office/drawing/2014/main" id="{984627E3-710A-072A-CBEC-97622A910EF2}"/>
              </a:ext>
            </a:extLst>
          </p:cNvPr>
          <p:cNvSpPr/>
          <p:nvPr/>
        </p:nvSpPr>
        <p:spPr>
          <a:xfrm>
            <a:off x="12344400" y="152400"/>
            <a:ext cx="1295400" cy="65532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es" sz="1200" b="1" i="1">
                <a:latin typeface="Arial" pitchFamily="34" charset="0"/>
                <a:cs typeface="Arial" pitchFamily="34" charset="0"/>
              </a:rPr>
              <a:t>NOTE:</a:t>
            </a:r>
          </a:p>
          <a:p>
            <a:pPr rtl="0"/>
            <a:r>
              <a:rPr lang="es" sz="1200" i="1">
                <a:latin typeface="Arial" pitchFamily="34" charset="0"/>
                <a:cs typeface="Arial" pitchFamily="34" charset="0"/>
              </a:rPr>
              <a:t>To change images on this slide, select a picture and delete it. Then click the Insert Picture icon</a:t>
            </a:r>
          </a:p>
          <a:p>
            <a:pPr rtl="0"/>
            <a:r>
              <a:rPr lang="es" sz="1200" i="1">
                <a:latin typeface="Arial" pitchFamily="34" charset="0"/>
                <a:cs typeface="Arial" pitchFamily="34" charset="0"/>
              </a:rPr>
              <a:t>in the placeholder to insert your own image.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7DC9E8-87F4-DC3E-C0B6-39FECF159827}"/>
              </a:ext>
            </a:extLst>
          </p:cNvPr>
          <p:cNvSpPr txBox="1"/>
          <p:nvPr/>
        </p:nvSpPr>
        <p:spPr>
          <a:xfrm>
            <a:off x="2992794" y="3179020"/>
            <a:ext cx="613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0DC84E4-61CF-7612-AA9E-1E1B994DB0B2}"/>
              </a:ext>
            </a:extLst>
          </p:cNvPr>
          <p:cNvSpPr txBox="1"/>
          <p:nvPr/>
        </p:nvSpPr>
        <p:spPr>
          <a:xfrm>
            <a:off x="2992794" y="3179020"/>
            <a:ext cx="6134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A469E1A-F79D-4CE3-0EFF-09EC3CC135D7}"/>
              </a:ext>
            </a:extLst>
          </p:cNvPr>
          <p:cNvSpPr txBox="1"/>
          <p:nvPr/>
        </p:nvSpPr>
        <p:spPr>
          <a:xfrm>
            <a:off x="3048778" y="344027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pic>
        <p:nvPicPr>
          <p:cNvPr id="5" name="Imagen 4" descr="Pila De Dólar Australiano Foto de stock y más banco de imágenes de  Australia - Australia, Billete de banco, Cultura australiana - iStock">
            <a:extLst>
              <a:ext uri="{FF2B5EF4-FFF2-40B4-BE49-F238E27FC236}">
                <a16:creationId xmlns:a16="http://schemas.microsoft.com/office/drawing/2014/main" id="{6887812F-C203-945C-1E6E-6D7A2F54E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796" y="5375307"/>
            <a:ext cx="3381752" cy="1430082"/>
          </a:xfrm>
          <a:prstGeom prst="rect">
            <a:avLst/>
          </a:prstGeom>
        </p:spPr>
      </p:pic>
      <p:pic>
        <p:nvPicPr>
          <p:cNvPr id="4" name="Imagen 3" descr="Los diez mejores jugadores europeos en la NBA a lo largo de la historia">
            <a:extLst>
              <a:ext uri="{FF2B5EF4-FFF2-40B4-BE49-F238E27FC236}">
                <a16:creationId xmlns:a16="http://schemas.microsoft.com/office/drawing/2014/main" id="{1CF858A5-1FC1-1702-90DB-71DA4AD39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334" y="-26537"/>
            <a:ext cx="4246358" cy="3716419"/>
          </a:xfrm>
          <a:prstGeom prst="rect">
            <a:avLst/>
          </a:prstGeom>
        </p:spPr>
      </p:pic>
      <p:pic>
        <p:nvPicPr>
          <p:cNvPr id="8" name="Imagen 7" descr="diseño de vector ilustrativo de dibujos animados de avión 17996078 Vector  en Vecteezy">
            <a:extLst>
              <a:ext uri="{FF2B5EF4-FFF2-40B4-BE49-F238E27FC236}">
                <a16:creationId xmlns:a16="http://schemas.microsoft.com/office/drawing/2014/main" id="{C45859D6-36ED-CFD6-94BC-7411F64C6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4349" y="0"/>
            <a:ext cx="3178021" cy="1666097"/>
          </a:xfrm>
          <a:prstGeom prst="rect">
            <a:avLst/>
          </a:prstGeom>
        </p:spPr>
      </p:pic>
      <p:pic>
        <p:nvPicPr>
          <p:cNvPr id="9" name="Imagen 8" descr="Quien diseñó el logo de la NBA? - Gràffica">
            <a:extLst>
              <a:ext uri="{FF2B5EF4-FFF2-40B4-BE49-F238E27FC236}">
                <a16:creationId xmlns:a16="http://schemas.microsoft.com/office/drawing/2014/main" id="{0F567FC3-AC01-2972-7090-09234F6BC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5246" y="1666875"/>
            <a:ext cx="3218918" cy="2023007"/>
          </a:xfrm>
          <a:prstGeom prst="rect">
            <a:avLst/>
          </a:prstGeom>
        </p:spPr>
      </p:pic>
      <p:pic>
        <p:nvPicPr>
          <p:cNvPr id="10" name="Imagen 9" descr="Assembly of Syndicate Shareholders of ECA approves teams lists, format  changes for 2023-24 EuroLeague, EuroCup">
            <a:extLst>
              <a:ext uri="{FF2B5EF4-FFF2-40B4-BE49-F238E27FC236}">
                <a16:creationId xmlns:a16="http://schemas.microsoft.com/office/drawing/2014/main" id="{9667303D-068A-FCAB-9E80-3DA0AFB06B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6102" y="5257800"/>
            <a:ext cx="4175878" cy="1572857"/>
          </a:xfrm>
          <a:prstGeom prst="rect">
            <a:avLst/>
          </a:prstGeom>
        </p:spPr>
      </p:pic>
      <p:pic>
        <p:nvPicPr>
          <p:cNvPr id="11" name="Imagen 10" descr="Movistar Plus+ se asegura más años de baloncesto: la Euroliga hasta 2031">
            <a:extLst>
              <a:ext uri="{FF2B5EF4-FFF2-40B4-BE49-F238E27FC236}">
                <a16:creationId xmlns:a16="http://schemas.microsoft.com/office/drawing/2014/main" id="{B8734645-92FD-D074-1E66-468AE3E4F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5246" y="3710775"/>
            <a:ext cx="7483938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3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loncesto 16x9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5870645_TF04001173.potx" id="{8400917C-07A5-4C86-9B22-B90CC143A836}" vid="{FE017AFC-A46D-4F35-9B33-14704D99AB22}"/>
    </a:ext>
  </a:extLst>
</a:theme>
</file>

<file path=ppt/theme/theme2.xml><?xml version="1.0" encoding="utf-8"?>
<a:theme xmlns:a="http://schemas.openxmlformats.org/drawingml/2006/main" name="Tema de Offic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DDEFBA-1D7E-4587-9763-EBF5A6740E9A}">
  <ds:schemaRefs>
    <ds:schemaRef ds:uri="a4f35948-e619-41b3-aa29-22878b09cfd2"/>
    <ds:schemaRef ds:uri="http://schemas.microsoft.com/office/infopath/2007/PartnerControls"/>
    <ds:schemaRef ds:uri="http://schemas.microsoft.com/office/2006/documentManagement/types"/>
    <ds:schemaRef ds:uri="40262f94-9f35-4ac3-9a90-690165a166b7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30E8E9-C5F6-40D8-943C-DA5B4196A6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E42578-9CD4-4AFF-AA5E-F33052F6B6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baloncesto (panorámica)</Template>
  <TotalTime>106</TotalTime>
  <Words>521</Words>
  <Application>Microsoft Office PowerPoint</Application>
  <PresentationFormat>Panorámica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Consolas</vt:lpstr>
      <vt:lpstr>Franklin Gothic Medium</vt:lpstr>
      <vt:lpstr>Impact</vt:lpstr>
      <vt:lpstr>Baloncesto 16x9</vt:lpstr>
      <vt:lpstr>EVOLUCION DEL BALONCESTO EUROPEO 1958-2024</vt:lpstr>
      <vt:lpstr>"¿Qué es la Euroliga?    Máxima competición de clubes en Europa   Fundada en 1958 como Copa de Europa       Reformada en 2001 como Euroleague Basketball</vt:lpstr>
      <vt:lpstr>    JUGADORES LEGENDARIOS    - Drazen Petrovic   - Arvydas Sabonis     - Toni Kukoc   - Nikos Gallis   - J.Antonio Corbalan  - EPI                   </vt:lpstr>
      <vt:lpstr>    "EQUIPOS LEGENDARIOS:     REAL MADRID      CSKA Moscú     Jugoplastika Split     Cibona Zagreb     Panathinaikos          Olympiacos        Barcelona    Maccabi Tel Aviv </vt:lpstr>
      <vt:lpstr>LAS 3 GRANDES ERAS</vt:lpstr>
      <vt:lpstr>Agregar un título de diapositiva (3)</vt:lpstr>
      <vt:lpstr>Agregar un título de diapositiva (1)</vt:lpstr>
      <vt:lpstr>       DESINTEGRACION DE YUGOSLAVIA Y LA URSS</vt:lpstr>
      <vt:lpstr>Presentación de PowerPoint</vt:lpstr>
      <vt:lpstr>CAUSAS DEFUNCION:    Estrellas Europeas emigran a  NBA  Television de Pago   Negocios y Presidentes que buscan rendimiento económico.  y sobre todo que   YA NO SE JUEGA  POR MERITOS DEPORTIVOS,  HAY LISTA CERRADA A 14    ES NEGOCIO, NO ES DEPORTE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Vaamonde Vuelta</dc:creator>
  <cp:lastModifiedBy>Manuel Vaamonde Vuelta</cp:lastModifiedBy>
  <cp:revision>4</cp:revision>
  <dcterms:created xsi:type="dcterms:W3CDTF">2026-05-08T01:23:36Z</dcterms:created>
  <dcterms:modified xsi:type="dcterms:W3CDTF">2026-05-08T08:12:28Z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